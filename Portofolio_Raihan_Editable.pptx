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ky-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6700" y="971550"/>
            <a:ext cx="8143875" cy="521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6700" y="171450"/>
            <a:ext cx="11315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6334125"/>
            <a:ext cx="11315700" cy="447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About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1428750"/>
            <a:ext cx="7429500" cy="2903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075BB7"/>
                </a:solidFill>
                <a:latin typeface="Arial"/>
              </a:defRPr>
            </a:pPr>
            <a:r>
              <a:t>Muhammad</a:t>
            </a:r>
          </a:p>
          <a:p>
            <a:pPr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075BB7"/>
                </a:solidFill>
                <a:latin typeface="Arial"/>
              </a:defRPr>
            </a:pPr>
            <a:r>
              <a:t>Raihan</a:t>
            </a:r>
          </a:p>
          <a:p>
            <a:pPr algn="l">
              <a:lnSpc>
                <a:spcPts val="765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075BB7"/>
                </a:solidFill>
                <a:latin typeface="Arial"/>
              </a:defRPr>
            </a:pPr>
            <a:r>
              <a:t>Ramadhan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657725"/>
            <a:ext cx="7334250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I develop content strategies and brand communications, then use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audience responses to improve execution.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15375" y="1800225"/>
            <a:ext cx="2867025" cy="429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ihan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450" y="1933575"/>
            <a:ext cx="2428875" cy="3238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6350" y="5343525"/>
            <a:ext cx="2428875" cy="3594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Faculty of Communication</a:t>
            </a:r>
          </a:p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Sciences, Padjadjaran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1066800"/>
            <a:ext cx="73342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426277"/>
                </a:solidFill>
                <a:latin typeface="Arial"/>
              </a:defRPr>
            </a:pPr>
            <a:r>
              <a:t>Bekasi, Indonesia / Padjadjaran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5857875"/>
            <a:ext cx="74866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08294B"/>
                </a:solidFill>
                <a:latin typeface="Arial"/>
              </a:defRPr>
            </a:pPr>
            <a:r>
              <a:t>Marketing Communication / Social Media / Public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1575" y="1152525"/>
            <a:ext cx="2705100" cy="504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4925" y="1266825"/>
            <a:ext cx="2476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Explore selected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Hello, I’m Raihan.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095499"/>
            <a:ext cx="6810375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I am interested in how brands build relationships with audiences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through relevant messages and creative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862262"/>
            <a:ext cx="6810375" cy="1085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My experience spans F&amp;B brand marketing, technology content,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and campus media communications. I develop ideas, execute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content, and use audience responses to shape the next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186237"/>
            <a:ext cx="6810375" cy="8072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Beyond content, I have experience coordinating teams and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building partnerships. I am interested in pursuing a career in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digital marketing and public relations.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39074" y="2076450"/>
            <a:ext cx="3648075" cy="3724275"/>
          </a:xfrm>
          <a:prstGeom prst="rect">
            <a:avLst/>
          </a:prstGeom>
          <a:solidFill>
            <a:srgbClr val="D9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49" y="2371725"/>
            <a:ext cx="3124200" cy="8072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8294B"/>
                </a:solidFill>
                <a:latin typeface="Arial"/>
              </a:defRPr>
            </a:pPr>
            <a:r>
              <a:t>Bachelor’s degree in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8294B"/>
                </a:solidFill>
                <a:latin typeface="Arial"/>
              </a:defRPr>
            </a:pPr>
            <a:r>
              <a:t>Communication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08294B"/>
                </a:solidFill>
                <a:latin typeface="Arial"/>
              </a:defRPr>
            </a:pPr>
            <a:r>
              <a:t>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49" y="3600450"/>
            <a:ext cx="3124200" cy="5057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Padjadjaran University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Since August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8150" y="4238625"/>
            <a:ext cx="3143250" cy="6500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03"/>
              </a:lnSpc>
              <a:spcBef>
                <a:spcPts val="0"/>
              </a:spcBef>
              <a:spcAft>
                <a:spcPts val="0"/>
              </a:spcAft>
              <a:defRPr sz="4875" b="1">
                <a:solidFill>
                  <a:srgbClr val="075BB7"/>
                </a:solidFill>
                <a:latin typeface="Arial"/>
              </a:defRPr>
            </a:pPr>
            <a:r>
              <a:t>3.70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5300" y="5048250"/>
            <a:ext cx="29527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GPA / 4.00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5300" y="5476875"/>
            <a:ext cx="2952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Based in Bekasi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Portfolio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Choose a project to explore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" y="272415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2450" y="2076450"/>
            <a:ext cx="40005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75BB7"/>
                </a:solidFill>
                <a:latin typeface="Arial"/>
              </a:defRPr>
            </a:pPr>
            <a:r>
              <a:t>Divia Unpad 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9625" y="2152650"/>
            <a:ext cx="54292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Campus media, employer branding &amp; B2B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0" y="2152650"/>
            <a:ext cx="952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04-08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346710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2819400"/>
            <a:ext cx="40005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75BB7"/>
                </a:solidFill>
                <a:latin typeface="Arial"/>
              </a:defRPr>
            </a:pPr>
            <a:r>
              <a:t>TIRIZ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895600"/>
            <a:ext cx="54292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Content strategy, KOLs &amp; campaign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0" y="2895600"/>
            <a:ext cx="952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09-13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450" y="421005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450" y="3562350"/>
            <a:ext cx="40005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75BB7"/>
                </a:solidFill>
                <a:latin typeface="Arial"/>
              </a:defRPr>
            </a:pPr>
            <a:r>
              <a:t>Cakradata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638550"/>
            <a:ext cx="54292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Technology content for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0" y="3638550"/>
            <a:ext cx="952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450" y="495300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450" y="4305300"/>
            <a:ext cx="40005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75BB7"/>
                </a:solidFill>
                <a:latin typeface="Arial"/>
              </a:defRPr>
            </a:pPr>
            <a:r>
              <a:t>Organizations &amp;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9625" y="4381500"/>
            <a:ext cx="54292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Partnerships, team coordination &amp;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0" y="4381500"/>
            <a:ext cx="952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15-19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450" y="569595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450" y="5048250"/>
            <a:ext cx="40005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75BB7"/>
                </a:solidFill>
                <a:latin typeface="Arial"/>
              </a:defRPr>
            </a:pPr>
            <a:r>
              <a:t>Skills &amp;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5124450"/>
            <a:ext cx="54292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Communication, Google, Microsoft &amp; Canva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0" y="5124450"/>
            <a:ext cx="952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20-21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Divia Unpad TV / June -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066800"/>
            <a:ext cx="6762750" cy="9658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25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75BB7"/>
                </a:solidFill>
                <a:latin typeface="Arial"/>
              </a:defRPr>
            </a:pPr>
            <a:r>
              <a:t>Career content that</a:t>
            </a:r>
          </a:p>
          <a:p>
            <a:pPr algn="l">
              <a:lnSpc>
                <a:spcPts val="3825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75BB7"/>
                </a:solidFill>
                <a:latin typeface="Arial"/>
              </a:defRPr>
            </a:pPr>
            <a:r>
              <a:t>resonates with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57425"/>
            <a:ext cx="62865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426277"/>
                </a:solidFill>
                <a:latin typeface="Arial"/>
              </a:defRPr>
            </a:pPr>
            <a:r>
              <a:t>Marketing Communication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705100"/>
            <a:ext cx="6048375" cy="1380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Divia Unpad TV is the official community television station of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Padjadjaran University, operating under the Faculty of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Communication Sciences. Holding an official Broadcasting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Operating Permit (IPP), it serves the West Java 1 region with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24-hour digital broadcasts and professional editorial standards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comparable to commercial media institutions.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332922"/>
            <a:ext cx="6048375" cy="7749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I built Divia’s LinkedIn presence from the ground up, used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the AIDA framework for copy, and developed an editorial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calendar for employer branding.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" y="5276850"/>
            <a:ext cx="6048375" cy="790575"/>
          </a:xfrm>
          <a:prstGeom prst="rect">
            <a:avLst/>
          </a:prstGeom>
          <a:solidFill>
            <a:srgbClr val="D9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425" y="5400675"/>
            <a:ext cx="1952624" cy="510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75"/>
              </a:lnSpc>
              <a:spcBef>
                <a:spcPts val="0"/>
              </a:spcBef>
              <a:spcAft>
                <a:spcPts val="0"/>
              </a:spcAft>
              <a:defRPr sz="3825" b="1">
                <a:solidFill>
                  <a:srgbClr val="075BB7"/>
                </a:solidFill>
                <a:latin typeface="Arial"/>
              </a:defRPr>
            </a:pPr>
            <a:r>
              <a:t>61.6%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6550" y="5581650"/>
            <a:ext cx="3476625" cy="230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CTR on the top-performing post</a:t>
            </a:r>
          </a:p>
        </p:txBody>
      </p:sp>
      <p:pic>
        <p:nvPicPr>
          <p:cNvPr id="11" name="Picture 10" descr="divia-linkedin-pos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975" y="2469140"/>
            <a:ext cx="4448175" cy="2986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38975" y="5695950"/>
            <a:ext cx="444817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Original Divia Unpad TV LinkedIn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0" y="5962650"/>
            <a:ext cx="4448175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Content calendar &amp; working documents</a:t>
            </a:r>
          </a:p>
        </p:txBody>
      </p:sp>
      <p:pic>
        <p:nvPicPr>
          <p:cNvPr id="14" name="Picture 13" descr="logo-divia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0" y="331366"/>
            <a:ext cx="1095375" cy="36596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Divia / TikTok, June 1 - July 29,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TikTok follower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105025"/>
            <a:ext cx="4286250" cy="8501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458"/>
              </a:lnSpc>
              <a:spcBef>
                <a:spcPts val="0"/>
              </a:spcBef>
              <a:spcAft>
                <a:spcPts val="0"/>
              </a:spcAft>
              <a:defRPr sz="6375" b="1">
                <a:solidFill>
                  <a:srgbClr val="075BB7"/>
                </a:solidFill>
                <a:latin typeface="Arial"/>
              </a:defRPr>
            </a:pPr>
            <a:r>
              <a:t>417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152775"/>
            <a:ext cx="428625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Net TikTok followers during the reporting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590925"/>
            <a:ext cx="4333875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64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075BB7"/>
                </a:solidFill>
                <a:latin typeface="Arial"/>
              </a:defRPr>
            </a:pPr>
            <a:r>
              <a:t>+31.5%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4371975"/>
            <a:ext cx="4190999" cy="486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Change in net followers versus the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comparison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5181600"/>
            <a:ext cx="4190999" cy="645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Analytics shows 4,427 total followers. The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+31.5% figure compares net followers with the</a:t>
            </a:r>
          </a:p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previous period.</a:t>
            </a:r>
          </a:p>
        </p:txBody>
      </p:sp>
      <p:pic>
        <p:nvPicPr>
          <p:cNvPr id="11" name="Picture 10" descr="divia-tiktok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955" y="2047875"/>
            <a:ext cx="1627714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91125" y="5762625"/>
            <a:ext cx="261937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Divia Unpad TV TikTok feed</a:t>
            </a:r>
          </a:p>
        </p:txBody>
      </p:sp>
      <p:pic>
        <p:nvPicPr>
          <p:cNvPr id="13" name="Picture 12" descr="divia-tiktok-grow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762" y="2047875"/>
            <a:ext cx="991474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9625" y="5762625"/>
            <a:ext cx="257175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Divia TikTok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6029325"/>
            <a:ext cx="1093470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426277"/>
                </a:solidFill>
                <a:latin typeface="Arial"/>
              </a:defRPr>
            </a:pPr>
            <a:r>
              <a:t>This is not the percentage growth in total followers.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Divia / Instagram, May 31 - July 30,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Instagram performance and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095499"/>
            <a:ext cx="3762374" cy="720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17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75BB7"/>
                </a:solidFill>
                <a:latin typeface="Arial"/>
              </a:defRPr>
            </a:pPr>
            <a:r>
              <a:t>22K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990850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Reel views in the Insights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333750"/>
            <a:ext cx="3762374" cy="720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17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75BB7"/>
                </a:solidFill>
                <a:latin typeface="Arial"/>
              </a:defRPr>
            </a:pPr>
            <a:r>
              <a:t>11K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4229100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Viewers in the Insights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572000"/>
            <a:ext cx="3762374" cy="7200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17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075BB7"/>
                </a:solidFill>
                <a:latin typeface="Arial"/>
              </a:defRPr>
            </a:pPr>
            <a:r>
              <a:t>2,853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5467350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8294B"/>
                </a:solidFill>
                <a:latin typeface="Arial"/>
              </a:defRPr>
            </a:pPr>
            <a:r>
              <a:t>Total followers, not follower growth</a:t>
            </a:r>
          </a:p>
        </p:txBody>
      </p:sp>
      <p:pic>
        <p:nvPicPr>
          <p:cNvPr id="12" name="Picture 11" descr="divia-ig-perform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495" y="2000250"/>
            <a:ext cx="2759133" cy="3571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67250" y="5667375"/>
            <a:ext cx="309562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Instagram Insights, 60 days</a:t>
            </a:r>
          </a:p>
        </p:txBody>
      </p:sp>
      <p:pic>
        <p:nvPicPr>
          <p:cNvPr id="14" name="Picture 13" descr="divia-ig-audi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995" y="2000250"/>
            <a:ext cx="2759133" cy="3571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500" y="5667375"/>
            <a:ext cx="328612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Instagram audience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5981700"/>
            <a:ext cx="10934700" cy="19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426277"/>
                </a:solidFill>
                <a:latin typeface="Arial"/>
              </a:defRPr>
            </a:pPr>
            <a:r>
              <a:t>54.0% of followers are aged 18–24. Account metrics reflect team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Divia / Selected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Content that resonates with students</a:t>
            </a:r>
          </a:p>
        </p:txBody>
      </p:sp>
      <p:pic>
        <p:nvPicPr>
          <p:cNvPr id="6" name="Picture 5" descr="divia-ig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48" y="2000250"/>
            <a:ext cx="1520628" cy="3381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2450" y="5476875"/>
            <a:ext cx="1952624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Instagram feed</a:t>
            </a:r>
          </a:p>
        </p:txBody>
      </p:sp>
      <p:pic>
        <p:nvPicPr>
          <p:cNvPr id="8" name="Picture 7" descr="divia-campus-trans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823" y="2000250"/>
            <a:ext cx="1520628" cy="3381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90825" y="5476875"/>
            <a:ext cx="1952624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Campus transport guide</a:t>
            </a:r>
          </a:p>
        </p:txBody>
      </p:sp>
      <p:pic>
        <p:nvPicPr>
          <p:cNvPr id="10" name="Picture 9" descr="divia-campus-t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198" y="2000250"/>
            <a:ext cx="1520628" cy="3381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5476875"/>
            <a:ext cx="1952624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Faculty tour</a:t>
            </a:r>
          </a:p>
        </p:txBody>
      </p:sp>
      <p:pic>
        <p:nvPicPr>
          <p:cNvPr id="12" name="Picture 11" descr="divia-linkedin-p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5" y="2002918"/>
            <a:ext cx="3838575" cy="33760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48575" y="5476875"/>
            <a:ext cx="383857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Divia LinkedIn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5886450"/>
            <a:ext cx="109347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Screenshots: 7.9K views for the campus transport guide and 3.6K views for the faculty tour Reel.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6153150"/>
            <a:ext cx="10934700" cy="1500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Figures for each post reflect the screenshot date and may differ from aggregate reports.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Divia Unpad TV / B2B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Materials for business partnerships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952624"/>
            <a:ext cx="10934700" cy="5920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8294B"/>
                </a:solidFill>
                <a:latin typeface="Arial"/>
              </a:defRPr>
            </a:pPr>
            <a:r>
              <a:t>As part of a three-person team, I optimized weekly social content. I also developed a</a:t>
            </a:r>
          </a:p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8294B"/>
                </a:solidFill>
                <a:latin typeface="Arial"/>
              </a:defRPr>
            </a:pPr>
            <a:r>
              <a:t>company profile, a competitor-informed rate card, and media partnership SOPs.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3495675"/>
            <a:ext cx="3381375" cy="38100"/>
          </a:xfrm>
          <a:prstGeom prst="rect">
            <a:avLst/>
          </a:prstGeom>
          <a:solidFill>
            <a:srgbClr val="07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450" y="3771900"/>
            <a:ext cx="3381375" cy="3100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20"/>
              </a:lnSpc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8294B"/>
                </a:solidFill>
                <a:latin typeface="Arial"/>
              </a:defRPr>
            </a:pPr>
            <a:r>
              <a:t>Company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4552950"/>
            <a:ext cx="3143250" cy="8072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Introducing Divia’s services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and position to potential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partners.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495675"/>
            <a:ext cx="3381375" cy="38100"/>
          </a:xfrm>
          <a:prstGeom prst="rect">
            <a:avLst/>
          </a:prstGeom>
          <a:solidFill>
            <a:srgbClr val="07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3771900"/>
            <a:ext cx="3381375" cy="3100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20"/>
              </a:lnSpc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8294B"/>
                </a:solidFill>
                <a:latin typeface="Arial"/>
              </a:defRPr>
            </a:pPr>
            <a:r>
              <a:t>Rate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552950"/>
            <a:ext cx="3143250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Proposal materials informed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by competitor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3495675"/>
            <a:ext cx="3381375" cy="38100"/>
          </a:xfrm>
          <a:prstGeom prst="rect">
            <a:avLst/>
          </a:prstGeom>
          <a:solidFill>
            <a:srgbClr val="07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4350" y="3771900"/>
            <a:ext cx="3381375" cy="3100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20"/>
              </a:lnSpc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08294B"/>
                </a:solidFill>
                <a:latin typeface="Arial"/>
              </a:defRPr>
            </a:pPr>
            <a:r>
              <a:t>SOP media 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4350" y="4552950"/>
            <a:ext cx="3143250" cy="8072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Clarifying collaboration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workflows and partner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coordination.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5953125"/>
            <a:ext cx="109347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Open content calendar &amp; working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TIRIZ / September - December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047749"/>
            <a:ext cx="10820400" cy="1043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25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075BB7"/>
                </a:solidFill>
                <a:latin typeface="Arial"/>
              </a:defRPr>
            </a:pPr>
            <a:r>
              <a:t>Building a local ice cream brand’s</a:t>
            </a:r>
          </a:p>
          <a:p>
            <a:pPr algn="l">
              <a:lnSpc>
                <a:spcPts val="4125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075BB7"/>
                </a:solidFill>
                <a:latin typeface="Arial"/>
              </a:defRPr>
            </a:pPr>
            <a:r>
              <a:t>digital presence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343150"/>
            <a:ext cx="10858500" cy="230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26277"/>
                </a:solidFill>
                <a:latin typeface="Arial"/>
              </a:defRPr>
            </a:pPr>
            <a:r>
              <a:t>Digital Marketing Strategist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895600"/>
            <a:ext cx="7334250" cy="1129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TIRIZ is an emerging local food and beverage (F&amp;B) brand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specializing in innovative ice cream and dairy products. It focuses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on high-quality, accessible products while building a strong digital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presence and community engagement in the local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2059"/>
            <a:ext cx="7334250" cy="8395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I managed digital strategy and execution with a five-person team.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The two-month plan combined educational, promotional, trend-led,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and engagement content for Unpad students.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2500" y="2886075"/>
            <a:ext cx="2914650" cy="2943225"/>
          </a:xfrm>
          <a:prstGeom prst="rect">
            <a:avLst/>
          </a:prstGeom>
          <a:solidFill>
            <a:srgbClr val="D9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1100" y="3190875"/>
            <a:ext cx="2476500" cy="8701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34"/>
              </a:lnSpc>
              <a:spcBef>
                <a:spcPts val="0"/>
              </a:spcBef>
              <a:spcAft>
                <a:spcPts val="0"/>
              </a:spcAft>
              <a:defRPr sz="6525" b="1">
                <a:solidFill>
                  <a:srgbClr val="075BB7"/>
                </a:solidFill>
                <a:latin typeface="Arial"/>
              </a:defRPr>
            </a:pPr>
            <a:r>
              <a:t>850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150" y="4286250"/>
            <a:ext cx="2352675" cy="8072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Instagram follower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growth during the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5934075"/>
            <a:ext cx="10934700" cy="19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426277"/>
                </a:solidFill>
                <a:latin typeface="Arial"/>
              </a:defRPr>
            </a:pPr>
            <a:r>
              <a:t>Content and partnerships worked together: four micro-influencers, an online-to-offline booth, and an Instagram giveaway.</a:t>
            </a:r>
          </a:p>
        </p:txBody>
      </p:sp>
      <p:pic>
        <p:nvPicPr>
          <p:cNvPr id="12" name="Picture 11" descr="logo-tiriz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569" y="209550"/>
            <a:ext cx="996736" cy="609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TIRIZ / Content &amp;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Content, execution, and partnerships</a:t>
            </a:r>
          </a:p>
        </p:txBody>
      </p:sp>
      <p:pic>
        <p:nvPicPr>
          <p:cNvPr id="6" name="Picture 5" descr="tiriz-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1933575"/>
            <a:ext cx="7061199" cy="397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2450" y="6000750"/>
            <a:ext cx="76581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Original TIRIZ report, page 9. Team campaign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1075" y="2209800"/>
            <a:ext cx="2952750" cy="8501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458"/>
              </a:lnSpc>
              <a:spcBef>
                <a:spcPts val="0"/>
              </a:spcBef>
              <a:spcAft>
                <a:spcPts val="0"/>
              </a:spcAft>
              <a:defRPr sz="6375" b="1">
                <a:solidFill>
                  <a:srgbClr val="075BB7"/>
                </a:solidFill>
                <a:latin typeface="Arial"/>
              </a:defRPr>
            </a:pPr>
            <a:r>
              <a:t>37,900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1075" y="3257550"/>
            <a:ext cx="2952750" cy="444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Views on the top-performing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promotional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600" y="3962399"/>
            <a:ext cx="2952750" cy="5800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89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075BB7"/>
                </a:solidFill>
                <a:latin typeface="Arial"/>
              </a:defRPr>
            </a:pPr>
            <a:r>
              <a:t>69,024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0125" y="4676775"/>
            <a:ext cx="2762250" cy="710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Total views from four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micro-influencer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collaborations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0125" y="5562600"/>
            <a:ext cx="2952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6,072 total KOL engagements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TIRIZ / Campaign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Campaign results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2450" y="1905000"/>
          <a:ext cx="8191500" cy="394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7250"/>
                <a:gridCol w="1762125"/>
                <a:gridCol w="1762125"/>
              </a:tblGrid>
              <a:tr h="438150"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114300" marR="38100" marT="0" marB="0">
                    <a:solidFill>
                      <a:srgbClr val="D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 marL="114300" marR="38100" marT="0" marB="0">
                    <a:solidFill>
                      <a:srgbClr val="D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 marL="114300" marR="38100" marT="0" marB="0">
                    <a:solidFill>
                      <a:srgbClr val="D9F0F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Instagram feed posts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Instagram Stories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120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Reels / short-form videos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Instagram follower growth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850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850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Average reach per Instagram feed post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814.1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Average views per Instagram Reel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3,000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3,003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TikTok follower growth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Average views per TikTok video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1,500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3,221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iriz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075" y="2521743"/>
            <a:ext cx="2514600" cy="1414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82075" y="4248150"/>
            <a:ext cx="25146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Original KPI report, page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075" y="4667250"/>
            <a:ext cx="2476500" cy="486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75BB7"/>
                </a:solidFill>
                <a:latin typeface="Arial"/>
              </a:defRPr>
            </a:pPr>
            <a:r>
              <a:t>Stories reached 300%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75BB7"/>
                </a:solidFill>
                <a:latin typeface="Arial"/>
              </a:defRPr>
            </a:pPr>
            <a:r>
              <a:t>of their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2075" y="5305425"/>
            <a:ext cx="2476500" cy="444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Instagram feed reach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remained below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6048375"/>
            <a:ext cx="8096249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View original TIRIZ campaign report (in Indonesian)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TIRIZ / KOLs and campaign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KOL partnerships in the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743075"/>
            <a:ext cx="10858500" cy="2200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KOL targets and results in the Pancarona team’s campaign report.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2450" y="2476500"/>
          <a:ext cx="6429375" cy="1981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2875"/>
                <a:gridCol w="1238250"/>
                <a:gridCol w="1238250"/>
              </a:tblGrid>
              <a:tr h="495299"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KOL metric</a:t>
                      </a:r>
                    </a:p>
                  </a:txBody>
                  <a:tcPr marL="114300" marR="38100" marT="0" marB="0">
                    <a:solidFill>
                      <a:srgbClr val="D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 marL="114300" marR="38100" marT="0" marB="0">
                    <a:solidFill>
                      <a:srgbClr val="D9F0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1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Actual</a:t>
                      </a:r>
                    </a:p>
                  </a:txBody>
                  <a:tcPr marL="114300" marR="38100" marT="0" marB="0">
                    <a:solidFill>
                      <a:srgbClr val="D9F0F2"/>
                    </a:solidFill>
                  </a:tcPr>
                </a:tc>
              </a:tr>
              <a:tr h="495299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KOL partnerships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95299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Instagram &amp; TikTok content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  <a:tr h="495302"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Average views per KOL post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25" b="0">
                          <a:solidFill>
                            <a:srgbClr val="08294B"/>
                          </a:solidFill>
                          <a:latin typeface="Arial"/>
                        </a:defRPr>
                      </a:pPr>
                      <a:r>
                        <a:t>17,256</a:t>
                      </a:r>
                    </a:p>
                  </a:txBody>
                  <a:tcPr marL="114300" marR="38100" marT="0" marB="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tiriz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2562820"/>
            <a:ext cx="4095750" cy="23038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91400" y="5238750"/>
            <a:ext cx="409575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Pancarona Team, report page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857750"/>
            <a:ext cx="6334125" cy="570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KOL and campaign results reflect team effort. My</a:t>
            </a:r>
          </a:p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contributions included digital strategy and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5972175"/>
            <a:ext cx="95250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Original TIRIZ report, pages 16 and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TIRIZ / Booth and Instagram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Digital content and booth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695450"/>
            <a:ext cx="10934700" cy="444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The “Choose Your Mood” activation on November 25 connected digital content with the booth experience. Instagram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Stories used polls, quizzes, and open-ended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324100"/>
            <a:ext cx="3381375" cy="590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77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075BB7"/>
                </a:solidFill>
                <a:latin typeface="Arial"/>
              </a:defRPr>
            </a:pPr>
            <a:r>
              <a:t>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038475"/>
            <a:ext cx="3333750" cy="19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8294B"/>
                </a:solidFill>
                <a:latin typeface="Arial"/>
              </a:defRPr>
            </a:pPr>
            <a:r>
              <a:t>Customers at the booth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24100"/>
            <a:ext cx="3381375" cy="590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77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075BB7"/>
                </a:solidFill>
                <a:latin typeface="Arial"/>
              </a:defRPr>
            </a:pPr>
            <a:r>
              <a:t>6,321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038475"/>
            <a:ext cx="3333750" cy="19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8294B"/>
                </a:solidFill>
                <a:latin typeface="Arial"/>
              </a:defRPr>
            </a:pPr>
            <a:r>
              <a:t>Total Instagram Story 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4350" y="2324100"/>
            <a:ext cx="3381375" cy="5900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77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075BB7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3038475"/>
            <a:ext cx="3333750" cy="19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08294B"/>
                </a:solidFill>
                <a:latin typeface="Arial"/>
              </a:defRPr>
            </a:pPr>
            <a:r>
              <a:t>Total Instagram Story interactions</a:t>
            </a:r>
          </a:p>
        </p:txBody>
      </p:sp>
      <p:pic>
        <p:nvPicPr>
          <p:cNvPr id="13" name="Picture 12" descr="tiriz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91" y="3533775"/>
            <a:ext cx="4097866" cy="2305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2450" y="5934075"/>
            <a:ext cx="523875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Interactive booth, report page 10</a:t>
            </a:r>
          </a:p>
        </p:txBody>
      </p:sp>
      <p:pic>
        <p:nvPicPr>
          <p:cNvPr id="15" name="Picture 14" descr="tiriz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841" y="3533775"/>
            <a:ext cx="4097866" cy="2305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48400" y="5934075"/>
            <a:ext cx="523875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Interactive Instagram Stories, report page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Cakradata / January - February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Technology content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914525"/>
            <a:ext cx="7620000" cy="230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26277"/>
                </a:solidFill>
                <a:latin typeface="Arial"/>
              </a:defRPr>
            </a:pPr>
            <a:r>
              <a:t>Marketing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400300"/>
            <a:ext cx="7667624" cy="13098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Cakradata is a pioneering Indonesian technology firm using big data and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artificial intelligence (AI) for perception engineering. It specializes in digital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media monitoring, audience analysis, and reputation management, helping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brands and public figures build data-driven communication strategies and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strong digital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957828"/>
            <a:ext cx="7667624" cy="8718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I reviewed digital performance through audience analysis and</a:t>
            </a:r>
          </a:p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media monitoring. I developed content plans and soft-sell copy for</a:t>
            </a:r>
          </a:p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Instagram and TikTok.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" y="5362575"/>
            <a:ext cx="7667624" cy="828675"/>
          </a:xfrm>
          <a:prstGeom prst="rect">
            <a:avLst/>
          </a:prstGeom>
          <a:solidFill>
            <a:srgbClr val="D9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425" y="5457825"/>
            <a:ext cx="3429000" cy="420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85"/>
              </a:lnSpc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075BB7"/>
                </a:solidFill>
                <a:latin typeface="Arial"/>
              </a:defRPr>
            </a:pPr>
            <a:r>
              <a:t>13,000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5953125"/>
            <a:ext cx="34290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Top TikTok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57825"/>
            <a:ext cx="3429000" cy="420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85"/>
              </a:lnSpc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075BB7"/>
                </a:solidFill>
                <a:latin typeface="Arial"/>
              </a:defRPr>
            </a:pPr>
            <a: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050" y="5953125"/>
            <a:ext cx="34290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Top Instagram views</a:t>
            </a:r>
          </a:p>
        </p:txBody>
      </p:sp>
      <p:pic>
        <p:nvPicPr>
          <p:cNvPr id="13" name="Picture 12" descr="s10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052" y="2009774"/>
            <a:ext cx="1645919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43950" y="5762625"/>
            <a:ext cx="2524125" cy="3594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Example post from the Cakradata</a:t>
            </a:r>
          </a:p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feed</a:t>
            </a:r>
          </a:p>
        </p:txBody>
      </p:sp>
      <p:pic>
        <p:nvPicPr>
          <p:cNvPr id="15" name="Picture 14" descr="logo-cakradata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0" y="331198"/>
            <a:ext cx="1095375" cy="3663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Fikomnex 2024 / October - December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Building campus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914525"/>
            <a:ext cx="7334250" cy="230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26277"/>
                </a:solidFill>
                <a:latin typeface="Arial"/>
              </a:defRPr>
            </a:pPr>
            <a:r>
              <a:t>Head of Sponsorship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428875"/>
            <a:ext cx="5476875" cy="14458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Fikom Communication Nexus (Fikomnex), formerly known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as Fikom Career Festival, is an annual event organized by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the Department of Profession and Scientific Affairs at BEM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Fikom Unpad. It gives Fikom students a space to explore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career insights and professional pathways after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graduation.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103370"/>
            <a:ext cx="5476875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I led a two-person team in pitching and coordinating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partnerships for a career event for Fikom students.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" y="5219700"/>
            <a:ext cx="5476875" cy="762000"/>
          </a:xfrm>
          <a:prstGeom prst="rect">
            <a:avLst/>
          </a:prstGeom>
          <a:solidFill>
            <a:srgbClr val="D9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5305425"/>
            <a:ext cx="952500" cy="530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  <a:defRPr sz="3975" b="1">
                <a:solidFill>
                  <a:srgbClr val="075BB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9750" y="5534025"/>
            <a:ext cx="4048124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Student organization partnerships</a:t>
            </a:r>
          </a:p>
        </p:txBody>
      </p:sp>
      <p:pic>
        <p:nvPicPr>
          <p:cNvPr id="11" name="Picture 10" descr="s11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659558"/>
            <a:ext cx="5038725" cy="28342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8425" y="5772150"/>
            <a:ext cx="503872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Fikomnex team,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6010275"/>
            <a:ext cx="5038725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Fikomnex partnership tracker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82250" y="152400"/>
            <a:ext cx="1095375" cy="723900"/>
          </a:xfrm>
          <a:prstGeom prst="rect">
            <a:avLst/>
          </a:prstGeom>
          <a:solidFill>
            <a:srgbClr val="07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-bem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137" y="209550"/>
            <a:ext cx="609600" cy="6096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Communication Management Student Association / February - December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Leading HIMA’s Internship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962150"/>
            <a:ext cx="5810250" cy="4863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26277"/>
                </a:solidFill>
                <a:latin typeface="Arial"/>
              </a:defRPr>
            </a:pPr>
            <a:r>
              <a:t>Staff, Human Resources and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26277"/>
                </a:solidFill>
                <a:latin typeface="Arial"/>
              </a:defRPr>
            </a:pPr>
            <a:r>
              <a:t>Organizational Development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762250"/>
            <a:ext cx="5619750" cy="14458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The Communication Management Student Association is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the primary student association representing the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Communication Management study program at Padjadjaran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University. It focuses on organizational management,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student advocacy, and comprehensive skill-building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initiatives.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417695"/>
            <a:ext cx="5619750" cy="9989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I led a nine-person team and coordinated the HIMA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Internship Program across eight divisions. 81 of 92 new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students took part in the program, a participation rate of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approximately 88%. All established KPIs were achieved.</a:t>
            </a:r>
          </a:p>
        </p:txBody>
      </p:sp>
      <p:pic>
        <p:nvPicPr>
          <p:cNvPr id="8" name="Picture 7" descr="hima-progr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055" y="2295525"/>
            <a:ext cx="2636638" cy="3514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05600" y="5905500"/>
            <a:ext cx="478155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HIMA Internship Program 2024</a:t>
            </a:r>
          </a:p>
        </p:txBody>
      </p:sp>
      <p:pic>
        <p:nvPicPr>
          <p:cNvPr id="10" name="Picture 9" descr="logo-h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137" y="209550"/>
            <a:ext cx="609600" cy="609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BEM Fikom Unpad / March - December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Coordinating with BEM Fikom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847850"/>
            <a:ext cx="10934700" cy="230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426277"/>
                </a:solidFill>
                <a:latin typeface="Arial"/>
              </a:defRPr>
            </a:pPr>
            <a:r>
              <a:t>Staff, Bureau of Organizational Synergy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333625"/>
            <a:ext cx="547687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BEM Fikom Unpad is the highest student executive body at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the Faculty of Communication Sciences, Padjadjaran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University. It leads strategic initiatives, student advocacy, and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faculty-wide programs with social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426714"/>
            <a:ext cx="547687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As part of the Organizational Synergy and Development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(SPO) Bureau, I supervised the 14-member Department of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Profession and Scientific Affairs, monitored its performance,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and supported its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519803"/>
            <a:ext cx="547687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I also served as event lead for Welcoming Party, an event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welcoming the newly formed cabinet staff. I developed the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event concept and led a team of fellow SPO staff. The event</a:t>
            </a:r>
          </a:p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8294B"/>
                </a:solidFill>
                <a:latin typeface="Arial"/>
              </a:defRPr>
            </a:pPr>
            <a:r>
              <a:t>met its set targets.</a:t>
            </a:r>
          </a:p>
        </p:txBody>
      </p:sp>
      <p:pic>
        <p:nvPicPr>
          <p:cNvPr id="9" name="Picture 8" descr="bem-te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146" y="2352675"/>
            <a:ext cx="1613331" cy="2867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8425" y="5362575"/>
            <a:ext cx="1628775" cy="8186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Photo with the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Department of Profession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and Scientific Affairs,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supervised by me as part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of the SPO Bureau.</a:t>
            </a:r>
          </a:p>
        </p:txBody>
      </p:sp>
      <p:pic>
        <p:nvPicPr>
          <p:cNvPr id="11" name="Picture 10" descr="bem-meet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121" y="2352675"/>
            <a:ext cx="1613331" cy="2867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53399" y="5362575"/>
            <a:ext cx="1628775" cy="8186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Meeting of the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Department of Profession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and Scientific Affairs,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supervised by me as part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of the SPO Bureau.</a:t>
            </a:r>
          </a:p>
        </p:txBody>
      </p:sp>
      <p:pic>
        <p:nvPicPr>
          <p:cNvPr id="13" name="Picture 12" descr="bem-welcomin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096" y="2352675"/>
            <a:ext cx="1613331" cy="2867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58375" y="5362575"/>
            <a:ext cx="1628775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BEM Fikom 2024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Welcoming Party photo,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where I served as event</a:t>
            </a:r>
          </a:p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426277"/>
                </a:solidFill>
                <a:latin typeface="Arial"/>
              </a:defRPr>
            </a:pPr>
            <a:r>
              <a:t>lead.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82250" y="152400"/>
            <a:ext cx="1095375" cy="723900"/>
          </a:xfrm>
          <a:prstGeom prst="rect">
            <a:avLst/>
          </a:prstGeom>
          <a:solidFill>
            <a:srgbClr val="07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-bem-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137" y="209550"/>
            <a:ext cx="609600" cy="6096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Home Theatre / June - December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Leading Home Theatre’s HR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028825"/>
            <a:ext cx="49530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26277"/>
                </a:solidFill>
                <a:latin typeface="Arial"/>
              </a:defRPr>
            </a:pPr>
            <a:r>
              <a:t>Co-head of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609850"/>
            <a:ext cx="4895850" cy="125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Hint of Merge Entertainment Theatre (Home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Theatre) is a theatrical production organized by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Fikom Unpad. It gives students a platform to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express their interests, talents, aspirations, and</a:t>
            </a:r>
          </a:p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08294B"/>
                </a:solidFill>
                <a:latin typeface="Arial"/>
              </a:defRPr>
            </a:pPr>
            <a:r>
              <a:t>critiques of current issues through theatre.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122324"/>
            <a:ext cx="4895850" cy="8718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I coordinated a 15-person HR team across</a:t>
            </a:r>
          </a:p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nine divisions, handled recruitment, and</a:t>
            </a:r>
          </a:p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294B"/>
                </a:solidFill>
                <a:latin typeface="Arial"/>
              </a:defRPr>
            </a:pPr>
            <a:r>
              <a:t>helped resolve internal conflicts.</a:t>
            </a:r>
          </a:p>
        </p:txBody>
      </p:sp>
      <p:pic>
        <p:nvPicPr>
          <p:cNvPr id="8" name="Picture 7" descr="home-theatre-te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781" y="2266950"/>
            <a:ext cx="2500312" cy="3333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29300" y="5695950"/>
            <a:ext cx="2581275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Home Theatre HR division photo.</a:t>
            </a:r>
          </a:p>
        </p:txBody>
      </p:sp>
      <p:pic>
        <p:nvPicPr>
          <p:cNvPr id="10" name="Picture 9" descr="home-theatre-meet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3034903"/>
            <a:ext cx="2600325" cy="19502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86825" y="5543550"/>
            <a:ext cx="2600325" cy="3594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Home Theatre HR team meeting</a:t>
            </a:r>
          </a:p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photo.</a:t>
            </a:r>
          </a:p>
        </p:txBody>
      </p:sp>
      <p:pic>
        <p:nvPicPr>
          <p:cNvPr id="12" name="Picture 11" descr="logo-home-theatre-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5668" y="209550"/>
            <a:ext cx="748537" cy="609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Ideation Epicentrum / February - June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Event concept and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009774"/>
            <a:ext cx="49530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26277"/>
                </a:solidFill>
                <a:latin typeface="Arial"/>
              </a:defRPr>
            </a:pPr>
            <a:r>
              <a:t>Event Management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514600"/>
            <a:ext cx="4914900" cy="16910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Ideation is an international communication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competition within Epicentrum, organized by the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Communication Management Study Program at the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Faculty of Communication Sciences, Padjadjaran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University. It challenges participants to address a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social issue through strategic communication design</a:t>
            </a:r>
          </a:p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8294B"/>
                </a:solidFill>
                <a:latin typeface="Arial"/>
              </a:defRPr>
            </a:pPr>
            <a:r>
              <a:t>in the form of a social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462843"/>
            <a:ext cx="4914900" cy="11292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I developed concepts for four event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segments and delivered the event with a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seven-person team as part of an</a:t>
            </a:r>
          </a:p>
          <a:p>
            <a:pPr algn="l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08294B"/>
                </a:solidFill>
                <a:latin typeface="Arial"/>
              </a:defRPr>
            </a:pPr>
            <a:r>
              <a:t>international communication competition.</a:t>
            </a:r>
          </a:p>
        </p:txBody>
      </p:sp>
      <p:pic>
        <p:nvPicPr>
          <p:cNvPr id="8" name="Picture 7" descr="ideation-te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25" y="2289550"/>
            <a:ext cx="2495550" cy="33266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76925" y="5715000"/>
            <a:ext cx="249555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Ideation Epicentrum team photo.</a:t>
            </a:r>
          </a:p>
        </p:txBody>
      </p:sp>
      <p:pic>
        <p:nvPicPr>
          <p:cNvPr id="10" name="Picture 9" descr="ideation-final-da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974" y="2286000"/>
            <a:ext cx="2500876" cy="3333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29675" y="5715000"/>
            <a:ext cx="2657475" cy="3594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Event Management team on Ideation</a:t>
            </a:r>
          </a:p>
          <a:p>
            <a:pPr algn="ctr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426277"/>
                </a:solidFill>
                <a:latin typeface="Arial"/>
              </a:defRPr>
            </a:pPr>
            <a:r>
              <a:t>Final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5962650"/>
            <a:ext cx="4914900" cy="2100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2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075BB7"/>
                </a:solidFill>
                <a:latin typeface="Arial"/>
              </a:defRPr>
            </a:pPr>
            <a:r>
              <a:t>Ideation work tracker</a:t>
            </a:r>
          </a:p>
        </p:txBody>
      </p:sp>
      <p:pic>
        <p:nvPicPr>
          <p:cNvPr id="13" name="Picture 12" descr="logo-ideation-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137" y="209550"/>
            <a:ext cx="609600" cy="609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Skills I bring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095499"/>
            <a:ext cx="6715125" cy="3600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8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75BB7"/>
                </a:solidFill>
                <a:latin typeface="Arial"/>
              </a:defRPr>
            </a:pPr>
            <a:r>
              <a:t>Content strategy &amp; copywriting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77125" y="2171700"/>
            <a:ext cx="4048124" cy="507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Editorial calendars and LinkedIn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" y="2790825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2924175"/>
            <a:ext cx="6715125" cy="3600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8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75BB7"/>
                </a:solidFill>
                <a:latin typeface="Arial"/>
              </a:defRPr>
            </a:pPr>
            <a:r>
              <a:t>Social media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7125" y="3000375"/>
            <a:ext cx="4048124" cy="507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Performance reviews against campaign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targets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361950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450" y="3752850"/>
            <a:ext cx="6715125" cy="3600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8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75BB7"/>
                </a:solidFill>
                <a:latin typeface="Arial"/>
              </a:defRPr>
            </a:pPr>
            <a:r>
              <a:t>Partnerships &amp; B2B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7125" y="3829050"/>
            <a:ext cx="4048124" cy="507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Pitching, partner coordination, and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proposal materials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450" y="4448175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450" y="4581525"/>
            <a:ext cx="6715125" cy="3600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58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75BB7"/>
                </a:solidFill>
                <a:latin typeface="Arial"/>
              </a:defRPr>
            </a:pPr>
            <a:r>
              <a:t>Team &amp; event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7125" y="4657725"/>
            <a:ext cx="4048124" cy="5074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Student programs and cross-functional</a:t>
            </a:r>
          </a:p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8294B"/>
                </a:solidFill>
                <a:latin typeface="Arial"/>
              </a:defRPr>
            </a:pPr>
            <a:r>
              <a:t>communication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450" y="527685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450" y="5762625"/>
            <a:ext cx="1093470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75BB7"/>
                </a:solidFill>
                <a:latin typeface="Arial"/>
              </a:defRPr>
            </a:pPr>
            <a:r>
              <a:t>Certification: Fundamentals of Digital Marketing, Google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294B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8294B"/>
                </a:solidFill>
                <a:latin typeface="Arial"/>
              </a:defRPr>
            </a:pPr>
            <a:r>
              <a:t>Hard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08294B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95350"/>
            <a:ext cx="11125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16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75BB7"/>
                </a:solidFill>
                <a:latin typeface="Arial"/>
              </a:defRPr>
            </a:pPr>
            <a:r>
              <a:t>Tools I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076450"/>
            <a:ext cx="47625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75BB7"/>
                </a:solidFill>
                <a:latin typeface="Arial"/>
              </a:defRPr>
            </a:pPr>
            <a:r>
              <a:t>Google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0" y="2114550"/>
            <a:ext cx="5810250" cy="270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8294B"/>
                </a:solidFill>
                <a:latin typeface="Arial"/>
              </a:defRPr>
            </a:pPr>
            <a:r>
              <a:t>Docs / Sheets / Slides /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0" y="2514600"/>
            <a:ext cx="5810250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For shared documents, spreadsheets, presentations,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and file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450" y="314325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450" y="3362325"/>
            <a:ext cx="47625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75BB7"/>
                </a:solidFill>
                <a:latin typeface="Arial"/>
              </a:defRPr>
            </a:pPr>
            <a:r>
              <a:t>Microsoft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9750" y="3400425"/>
            <a:ext cx="5810250" cy="270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8294B"/>
                </a:solidFill>
                <a:latin typeface="Arial"/>
              </a:defRPr>
            </a:pPr>
            <a:r>
              <a:t>Word / Excel / PowerPoint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0" y="3800475"/>
            <a:ext cx="5810250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For drafting documents, working with spreadsheets,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and preparing presentations.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450" y="4429125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4648200"/>
            <a:ext cx="47625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75BB7"/>
                </a:solidFill>
                <a:latin typeface="Arial"/>
              </a:defRPr>
            </a:pPr>
            <a:r>
              <a:t>Canva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0" y="4686300"/>
            <a:ext cx="5810250" cy="270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69"/>
              </a:lnSpc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08294B"/>
                </a:solidFill>
                <a:latin typeface="Arial"/>
              </a:defRPr>
            </a:pPr>
            <a:r>
              <a:t>Layout / Text / Visuals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9750" y="5086350"/>
            <a:ext cx="5810250" cy="528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Basic editing: adapting templates, layouts, text, and</a:t>
            </a:r>
          </a:p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08294B"/>
                </a:solidFill>
                <a:latin typeface="Arial"/>
              </a:defRPr>
            </a:pPr>
            <a:r>
              <a:t>visual elements.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450" y="5715000"/>
            <a:ext cx="109347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A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75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6277"/>
                </a:solidFill>
                <a:latin typeface="Arial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5BB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285750"/>
            <a:ext cx="1714500" cy="2800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raihan.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0" y="342900"/>
            <a:ext cx="6381750" cy="1800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9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0" y="342900"/>
            <a:ext cx="1333500" cy="1700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Arial"/>
              </a:defRPr>
            </a:pPr>
            <a:r>
              <a:t>Portfolio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4" y="1238250"/>
            <a:ext cx="11049000" cy="2508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675"/>
              </a:lnSpc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FFFFFF"/>
                </a:solidFill>
                <a:latin typeface="Arial"/>
              </a:defRPr>
            </a:pPr>
            <a:r>
              <a:t>Let’s work</a:t>
            </a:r>
          </a:p>
          <a:p>
            <a:pPr algn="l">
              <a:lnSpc>
                <a:spcPts val="9675"/>
              </a:lnSpc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FFFFFF"/>
                </a:solidFill>
                <a:latin typeface="Arial"/>
              </a:defRPr>
            </a:pPr>
            <a:r>
              <a:t>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162424"/>
            <a:ext cx="10858500" cy="3000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32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FFFFFF"/>
                </a:solidFill>
                <a:latin typeface="Arial"/>
              </a:defRPr>
            </a:pPr>
            <a:r>
              <a:t>Open to opportunities in marketing communication, social media, and public relations.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010150"/>
            <a:ext cx="8858250" cy="4300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3"/>
              </a:lnSpc>
              <a:spcBef>
                <a:spcPts val="0"/>
              </a:spcBef>
              <a:spcAft>
                <a:spcPts val="0"/>
              </a:spcAft>
              <a:defRPr sz="3225" b="0">
                <a:solidFill>
                  <a:srgbClr val="FFFFFF"/>
                </a:solidFill>
                <a:latin typeface="Arial"/>
              </a:defRPr>
            </a:pPr>
            <a:r>
              <a:t>mraihanr0511@gmail.com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743575"/>
            <a:ext cx="219075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300" y="5743575"/>
            <a:ext cx="371475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+62 821 2804 4014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2975" y="5743575"/>
            <a:ext cx="2952750" cy="240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Portfolio website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647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6496050"/>
            <a:ext cx="161925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Selected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6496050"/>
            <a:ext cx="1047749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Previous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0" y="6496050"/>
            <a:ext cx="762000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 Raihan Ramadhan | Editable Portfolio</dc:title>
  <dc:subject/>
  <dc:creator>Muhammad Raihan Ramadhan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